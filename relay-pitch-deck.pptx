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D85A30"/>
            </a:solidFill>
            <a:effectLst/>
          </c:spPr>
          <c:invertIfNegative val="0"/>
          <c:dLbls>
            <c:numFmt formatCode="&quot;$&quot;0.##&quot;B&quot;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F8F7F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85A3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Caribbean (15 islands)</c:v>
                  </c:pt>
                  <c:pt idx="1">
                    <c:v>Barbados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</c:v>
                </c:pt>
                <c:pt idx="1">
                  <c:v>1.58</c:v>
                </c:pt>
              </c:numCache>
            </c:numRef>
          </c:val>
        </c:ser>
        <c:dLbls>
          <c:numFmt formatCode="&quot;$&quot;0.##&quot;B&quot;" sourceLinked="0"/>
          <c:txPr>
            <a:bodyPr/>
            <a:lstStyle/>
            <a:p>
              <a:pPr>
                <a:defRPr b="0" i="0" strike="noStrike" sz="1600" u="none">
                  <a:solidFill>
                    <a:srgbClr val="F8F7F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8F7F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A1A1A"/>
        </a:solidFill>
        <a:ln>
          <a:noFill/>
        </a:ln>
        <a:effectLst/>
      </c:spPr>
    </c:plotArea>
    <c:plotVisOnly val="1"/>
    <c:dispBlanksAs val="span"/>
  </c:chart>
  <c:spPr>
    <a:solidFill>
      <a:srgbClr val="1A1A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6E56"/>
              </a:solidFill>
              <a:ln w="38100" cap="flat">
                <a:solidFill>
                  <a:srgbClr val="1A1A1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85A30"/>
              </a:solidFill>
              <a:ln w="38100" cap="flat">
                <a:solidFill>
                  <a:srgbClr val="1A1A1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Owner payout</c:v>
                </c:pt>
                <c:pt idx="1">
                  <c:v>Relay fee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90</c:v>
                </c:pt>
                <c:pt idx="1">
                  <c:v>10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377440"/>
            <a:ext cx="5669280" cy="5669280"/>
          </a:xfrm>
          <a:prstGeom prst="ellipse">
            <a:avLst/>
          </a:prstGeom>
          <a:ln w="15875">
            <a:solidFill>
              <a:srgbClr val="D85A30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194560" y="4572000"/>
            <a:ext cx="4023360" cy="4023360"/>
          </a:xfrm>
          <a:prstGeom prst="ellipse">
            <a:avLst/>
          </a:prstGeom>
          <a:ln w="15875">
            <a:solidFill>
              <a:srgbClr val="0F6E56">
                <a:alpha val="4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38648" y="13716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0" y="269748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5600" dirty="0"/>
          </a:p>
        </p:txBody>
      </p:sp>
      <p:sp>
        <p:nvSpPr>
          <p:cNvPr id="6" name="Text 3"/>
          <p:cNvSpPr txBox="1"/>
          <p:nvPr/>
        </p:nvSpPr>
        <p:spPr>
          <a:xfrm>
            <a:off x="0" y="3657600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construction equipment by text.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0" y="6126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Corless &amp; James Edghill  ·  Future Caribbean Buildathon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65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382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Caribbean construction runs on chaos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24242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04672" y="2130552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$1.58B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804672" y="2788920"/>
            <a:ext cx="27980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Barbados construction market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65092" y="187452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24242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421124" y="2130552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4421124" y="2788920"/>
            <a:ext cx="27980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platforms for equipment booking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81544" y="1874520"/>
            <a:ext cx="3310128" cy="1874520"/>
          </a:xfrm>
          <a:prstGeom prst="roundRect">
            <a:avLst>
              <a:gd name="adj" fmla="val 4390"/>
            </a:avLst>
          </a:prstGeom>
          <a:solidFill>
            <a:srgbClr val="24242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37576" y="2130552"/>
            <a:ext cx="27980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2"/>
          <p:cNvSpPr txBox="1"/>
          <p:nvPr/>
        </p:nvSpPr>
        <p:spPr>
          <a:xfrm>
            <a:off x="8037576" y="2788920"/>
            <a:ext cx="279806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happens over fragmented WhatsApp and phone calls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160520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sits idle while nearby job sites stall. Local inventory is so hard to find that international developers import their own equipment instead — keeping money and jobs off the island. Entirely solvable.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65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382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equipment was already on the island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965960"/>
            <a:ext cx="1371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3000" dirty="0"/>
          </a:p>
        </p:txBody>
      </p:sp>
      <p:sp>
        <p:nvSpPr>
          <p:cNvPr id="8" name="Text 5"/>
          <p:cNvSpPr txBox="1"/>
          <p:nvPr/>
        </p:nvSpPr>
        <p:spPr>
          <a:xfrm>
            <a:off x="1965960" y="2148840"/>
            <a:ext cx="9052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Barbados already has the excavators, generators, and trucks contractors need — sitting idle because there was no fast way to find or book them. That gap, not a lack of equipment, is what pushes developers to import instead.</a:t>
            </a:r>
            <a:endParaRPr lang="en-US" sz="1900" dirty="0"/>
          </a:p>
          <a:p>
            <a:pPr algn="l" indent="0" marL="0">
              <a:lnSpc>
                <a:spcPct val="140000"/>
              </a:lnSpc>
              <a:spcAft>
                <a:spcPts val="1400"/>
              </a:spcAft>
              <a:buNone/>
            </a:pPr>
            <a:endParaRPr lang="en-US" sz="1900" dirty="0"/>
          </a:p>
          <a:p>
            <a:pPr algn="l" indent="0" marL="0">
              <a:lnSpc>
                <a:spcPct val="140000"/>
              </a:lnSpc>
              <a:spcAft>
                <a:spcPts val="1400"/>
              </a:spcAft>
              <a:buNone/>
            </a:pPr>
            <a:r>
              <a:rPr lang="en-US" sz="19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closes that gap: when local inventory is as easy to book as a text, equipment stays working and the money stays in the Caribbean.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65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382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0352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equipment by text. That is it.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3947008" y="1298448"/>
            <a:ext cx="4297680" cy="4617720"/>
          </a:xfrm>
          <a:prstGeom prst="roundRect">
            <a:avLst>
              <a:gd name="adj" fmla="val 5957"/>
            </a:avLst>
          </a:prstGeom>
          <a:solidFill>
            <a:srgbClr val="0D0D0D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184752" y="1554480"/>
            <a:ext cx="2880360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331056" y="1627632"/>
            <a:ext cx="2587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need a 20 ton excavator in St Philip Monday to Wednesday.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60824" y="2468880"/>
            <a:ext cx="3246120" cy="1417320"/>
          </a:xfrm>
          <a:prstGeom prst="roundRect">
            <a:avLst>
              <a:gd name="adj" fmla="val 5806"/>
            </a:avLst>
          </a:prstGeom>
          <a:solidFill>
            <a:srgbClr val="0F6E56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907128" y="2542032"/>
            <a:ext cx="295351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Available. Bradshaw Equipment — $850/day. 3 days = $2,550. 30% deposit ($765) to confirm. Deliver to?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184752" y="4041648"/>
            <a:ext cx="228600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331056" y="4114800"/>
            <a:ext cx="199339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Sandy Lane construction site.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760824" y="4700016"/>
            <a:ext cx="3246120" cy="1051560"/>
          </a:xfrm>
          <a:prstGeom prst="roundRect">
            <a:avLst>
              <a:gd name="adj" fmla="val 7826"/>
            </a:avLst>
          </a:prstGeom>
          <a:solidFill>
            <a:srgbClr val="0F6E5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907128" y="4773168"/>
            <a:ext cx="295351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Booked. Pay deposit here: stripe.com/relay/7821. Owner notified.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0" y="6053328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conversation. Real booking. Real payment. No app.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65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382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steps. One conversation.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1517904" y="2514600"/>
            <a:ext cx="822960" cy="8229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517904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786384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86384" y="395935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 describes what they need.</a:t>
            </a:r>
            <a:endParaRPr lang="en-US" sz="13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825496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114800" y="2514600"/>
            <a:ext cx="822960" cy="8229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11480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395935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checks live availability and returns options.</a:t>
            </a:r>
            <a:endParaRPr lang="en-US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4144" y="2825496"/>
            <a:ext cx="201168" cy="201168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6711696" y="2514600"/>
            <a:ext cx="822960" cy="8229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8" name="Text 13"/>
          <p:cNvSpPr txBox="1"/>
          <p:nvPr/>
        </p:nvSpPr>
        <p:spPr>
          <a:xfrm>
            <a:off x="6711696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4"/>
          <p:cNvSpPr txBox="1"/>
          <p:nvPr/>
        </p:nvSpPr>
        <p:spPr>
          <a:xfrm>
            <a:off x="5980176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5980176" y="395935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Contractor confirms, payment link sent.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825496"/>
            <a:ext cx="201168" cy="201168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9308592" y="2514600"/>
            <a:ext cx="822960" cy="82296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9308592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18"/>
          <p:cNvSpPr txBox="1"/>
          <p:nvPr/>
        </p:nvSpPr>
        <p:spPr>
          <a:xfrm>
            <a:off x="8577072" y="3538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Notify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8577072" y="3959352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owner gets automatic SMS.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65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382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Barbados is the start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SIZE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148840"/>
          <a:ext cx="5120640" cy="2971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6035040" y="1783080"/>
            <a:ext cx="5605272" cy="3611880"/>
          </a:xfrm>
          <a:prstGeom prst="roundRect">
            <a:avLst>
              <a:gd name="adj" fmla="val 2278"/>
            </a:avLst>
          </a:prstGeom>
          <a:solidFill>
            <a:srgbClr val="242424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6355080" y="21031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635508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digital coordination platforms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6355080" y="342900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island has the same problem. Relay is built for Barbados first and designed to replicate across the region.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65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382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Simple. Scalable. High margin.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4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MODEL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48640" y="2331720"/>
          <a:ext cx="192024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Shape 5"/>
          <p:cNvSpPr/>
          <p:nvPr/>
        </p:nvSpPr>
        <p:spPr>
          <a:xfrm>
            <a:off x="2697480" y="2871216"/>
            <a:ext cx="146304" cy="146304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2953512" y="279806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 Owner payout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2697480" y="3419856"/>
            <a:ext cx="146304" cy="146304"/>
          </a:xfrm>
          <a:prstGeom prst="ellipse">
            <a:avLst/>
          </a:prstGeom>
          <a:solidFill>
            <a:srgbClr val="D85A30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2953512" y="3346704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 Relay fee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57200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subscription fees.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1800"/>
              </a:spcAft>
              <a:buSzPct val="100000"/>
              <a:buChar char="●"/>
            </a:pPr>
            <a:r>
              <a:rPr lang="en-US" sz="16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transaction revenue.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5852160" y="1874520"/>
            <a:ext cx="4873752" cy="3931920"/>
          </a:xfrm>
          <a:prstGeom prst="roundRect">
            <a:avLst>
              <a:gd name="adj" fmla="val 2093"/>
            </a:avLst>
          </a:prstGeom>
          <a:solidFill>
            <a:srgbClr val="24242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6172200" y="21214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SIZING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6172200" y="2697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market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321040" y="26974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$1.5B–$2.0B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6172200" y="3200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Addressable market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832104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$20M–$30M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6172200" y="3703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 revenue potential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8321040" y="37033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$1M–$3M</a:t>
            </a:r>
            <a:endParaRPr lang="en-US" sz="1400" dirty="0"/>
          </a:p>
        </p:txBody>
      </p:sp>
      <p:sp>
        <p:nvSpPr>
          <p:cNvPr id="22" name="Text 18"/>
          <p:cNvSpPr txBox="1"/>
          <p:nvPr/>
        </p:nvSpPr>
        <p:spPr>
          <a:xfrm>
            <a:off x="6172200" y="44348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TARGET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172200" y="4828032"/>
            <a:ext cx="4297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$150,000</a:t>
            </a:r>
            <a:endParaRPr lang="en-US" sz="3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65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382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in 21 days. Ready for users.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1682496"/>
            <a:ext cx="146304" cy="14630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05840" y="15453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booking agent responding to real SMS.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48640" y="2313432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395728"/>
            <a:ext cx="146304" cy="14630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005840" y="2258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equipment database with availability checking.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548640" y="3026664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" y="3108960"/>
            <a:ext cx="146304" cy="14630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00584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Stripe payment processing — 30% deposit + 70% completion.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48640" y="3739896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" y="3822192"/>
            <a:ext cx="146304" cy="14630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005840" y="36850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equipment owner notifications.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6263640" y="1600200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1682496"/>
            <a:ext cx="146304" cy="146304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720840" y="15453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conversation memory.</a:t>
            </a:r>
            <a:endParaRPr lang="en-US" sz="1400" dirty="0"/>
          </a:p>
        </p:txBody>
      </p:sp>
      <p:sp>
        <p:nvSpPr>
          <p:cNvPr id="22" name="Shape 14"/>
          <p:cNvSpPr/>
          <p:nvPr/>
        </p:nvSpPr>
        <p:spPr>
          <a:xfrm>
            <a:off x="6263640" y="2313432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2395728"/>
            <a:ext cx="146304" cy="14630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6720840" y="225856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demo at buildrelay.co.</a:t>
            </a:r>
            <a:endParaRPr lang="en-US" sz="1400" dirty="0"/>
          </a:p>
        </p:txBody>
      </p:sp>
      <p:sp>
        <p:nvSpPr>
          <p:cNvPr id="25" name="Shape 16"/>
          <p:cNvSpPr/>
          <p:nvPr/>
        </p:nvSpPr>
        <p:spPr>
          <a:xfrm>
            <a:off x="6263640" y="3026664"/>
            <a:ext cx="310896" cy="310896"/>
          </a:xfrm>
          <a:prstGeom prst="ellipse">
            <a:avLst/>
          </a:prstGeom>
          <a:solidFill>
            <a:srgbClr val="0F6E56"/>
          </a:solidFill>
          <a:ln/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3108960"/>
            <a:ext cx="146304" cy="146304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6720840" y="29718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Anchor partner: James Edghill, One Construction Barbados.</a:t>
            </a:r>
            <a:endParaRPr lang="en-US" sz="1400" dirty="0"/>
          </a:p>
        </p:txBody>
      </p:sp>
      <p:sp>
        <p:nvSpPr>
          <p:cNvPr id="28" name="Shape 18"/>
          <p:cNvSpPr/>
          <p:nvPr/>
        </p:nvSpPr>
        <p:spPr>
          <a:xfrm>
            <a:off x="548640" y="5532120"/>
            <a:ext cx="11091672" cy="777240"/>
          </a:xfrm>
          <a:prstGeom prst="roundRect">
            <a:avLst>
              <a:gd name="adj" fmla="val 10588"/>
            </a:avLst>
          </a:prstGeom>
          <a:solidFill>
            <a:srgbClr val="242424"/>
          </a:solidFill>
          <a:ln/>
        </p:spPr>
      </p:sp>
      <p:sp>
        <p:nvSpPr>
          <p:cNvPr id="29" name="Text 19"/>
          <p:cNvSpPr txBox="1"/>
          <p:nvPr/>
        </p:nvSpPr>
        <p:spPr>
          <a:xfrm>
            <a:off x="822960" y="553212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 </a:t>
            </a:r>
            <a:pPr algn="l" indent="0" marL="0">
              <a:buNone/>
            </a:pPr>
            <a:r>
              <a:rPr lang="en-US" sz="1400" spc="100" kern="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production, onboard first 10 equipment owners, first live bookings in Barbados.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65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382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7772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people who know the market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548640" y="2377440"/>
            <a:ext cx="1143000" cy="11430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 Corless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VENTURE ARCHITECT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years building platforms across music, media, wellness, and real estate. Based between Toronto and Barbados.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309360" y="2377440"/>
            <a:ext cx="1143000" cy="1143000"/>
          </a:xfrm>
          <a:prstGeom prst="ellipse">
            <a:avLst/>
          </a:prstGeom>
          <a:solidFill>
            <a:srgbClr val="0F6E56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309360" y="2377440"/>
            <a:ext cx="1143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37033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Edghill</a:t>
            </a:r>
            <a:endParaRPr lang="en-US" sz="21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4160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PARTNER &amp; LEAD INVESTOR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4572000"/>
            <a:ext cx="5029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Operates One Construction — the largest construction company in Barbados. Market access and anchor customer network.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10896" cy="31089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69264" y="3657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DIGITAL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11094415" y="6382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180015" y="63825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150" kern="0" dirty="0">
                <a:solidFill>
                  <a:srgbClr val="ABAB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8580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need to scale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5166360" cy="3566160"/>
          </a:xfrm>
          <a:prstGeom prst="roundRect">
            <a:avLst>
              <a:gd name="adj" fmla="val 2308"/>
            </a:avLst>
          </a:prstGeom>
          <a:solidFill>
            <a:srgbClr val="24242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BUILDATHON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2331720"/>
            <a:ext cx="4526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Mentorship on AI agent architecture and Caribbean market entry.</a:t>
            </a:r>
            <a:endParaRPr lang="en-US" sz="1500" dirty="0"/>
          </a:p>
          <a:p>
            <a:pPr algn="l"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Connections to equipment owners and contractors.</a:t>
            </a:r>
            <a:endParaRPr lang="en-US" sz="1500" dirty="0"/>
          </a:p>
          <a:p>
            <a:pPr algn="l" marL="342900" indent="-342900">
              <a:lnSpc>
                <a:spcPct val="125000"/>
              </a:lnSpc>
              <a:spcAft>
                <a:spcPts val="1600"/>
              </a:spcAft>
              <a:buSzPct val="100000"/>
              <a:buChar char="●"/>
            </a:pPr>
            <a:r>
              <a:rPr lang="en-US" sz="15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resources to scale the AI layer.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971032" y="1600200"/>
            <a:ext cx="5669280" cy="3566160"/>
          </a:xfrm>
          <a:prstGeom prst="roundRect">
            <a:avLst>
              <a:gd name="adj" fmla="val 2308"/>
            </a:avLst>
          </a:prstGeom>
          <a:solidFill>
            <a:srgbClr val="242424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91072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50" kern="0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291072" y="22860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$150,000</a:t>
            </a:r>
            <a:endParaRPr lang="en-US" sz="3600" dirty="0"/>
          </a:p>
        </p:txBody>
      </p:sp>
      <p:sp>
        <p:nvSpPr>
          <p:cNvPr id="13" name="Text 10"/>
          <p:cNvSpPr txBox="1"/>
          <p:nvPr/>
        </p:nvSpPr>
        <p:spPr>
          <a:xfrm>
            <a:off x="6291072" y="2971800"/>
            <a:ext cx="5029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8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to onboard 50 equipment owners across Barbados, deploy permanent infrastructure, and expand to Trinidad and Jamaica within 12 months.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0" y="553212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8C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 is live. The market is real. The team is ready.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2026-09-04T14:31:53Z</dcterms:created>
  <dcterms:modified xsi:type="dcterms:W3CDTF">2026-09-04T14:31:53Z</dcterms:modified>
</cp:coreProperties>
</file>