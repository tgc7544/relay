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4415" cy="11887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Arial Black"/>
              </a:rPr>
              <a:t>Relay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0" i="0">
                <a:solidFill>
                  <a:srgbClr val="A0B0AA"/>
                </a:solidFill>
                <a:latin typeface="Arial"/>
              </a:rPr>
              <a:t>The operating system for Caribbean construction.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59436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D85A30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Caribbean construction is booming.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D85A30"/>
                </a:solidFill>
                <a:latin typeface="Arial"/>
              </a:rPr>
              <a:t>The systems haven't caught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3454298" cy="3291840"/>
          </a:xfrm>
          <a:prstGeom prst="roundRect">
            <a:avLst>
              <a:gd name="adj" fmla="val 2777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91839"/>
            <a:ext cx="2631338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0F6E56"/>
                </a:solidFill>
                <a:latin typeface="Arial"/>
              </a:rPr>
              <a:t>$8B+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26279"/>
            <a:ext cx="263133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Regional construction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2651760"/>
            <a:ext cx="3454298" cy="3291840"/>
          </a:xfrm>
          <a:prstGeom prst="roundRect">
            <a:avLst>
              <a:gd name="adj" fmla="val 2777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0178" y="3291839"/>
            <a:ext cx="2631338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D85A30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0178" y="4526279"/>
            <a:ext cx="263133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Central booking platforms in the Caribbean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8756" y="2651760"/>
            <a:ext cx="3454298" cy="3291840"/>
          </a:xfrm>
          <a:prstGeom prst="roundRect">
            <a:avLst>
              <a:gd name="adj" fmla="val 2777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0236" y="3291839"/>
            <a:ext cx="2631338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0F6E56"/>
                </a:solidFill>
                <a:latin typeface="Arial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0236" y="4526279"/>
            <a:ext cx="263133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Of coordination happens over WhatsApp and phone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The real cost of fragmentation.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87187" cy="1828800"/>
          </a:xfrm>
          <a:prstGeom prst="roundRect">
            <a:avLst>
              <a:gd name="adj" fmla="val 5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5341467" cy="1828800"/>
          </a:xfrm>
          <a:prstGeom prst="roundRect">
            <a:avLst>
              <a:gd name="adj" fmla="val 5000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609947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Idle machinery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Equipment sits unused while nearby job sites stall, waiting on phone calls that haven't been returned.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783080"/>
            <a:ext cx="5387187" cy="1828800"/>
          </a:xfrm>
          <a:prstGeom prst="roundRect">
            <a:avLst>
              <a:gd name="adj" fmla="val 5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587" y="1783080"/>
            <a:ext cx="5341467" cy="1828800"/>
          </a:xfrm>
          <a:prstGeom prst="roundRect">
            <a:avLst>
              <a:gd name="adj" fmla="val 5000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347" y="2011680"/>
            <a:ext cx="4609947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Delayed projects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Informal coordination leads to missed deliveries, scheduling conflicts, and cost overruns.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87187" cy="1828800"/>
          </a:xfrm>
          <a:prstGeom prst="roundRect">
            <a:avLst>
              <a:gd name="adj" fmla="val 5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5341467" cy="1828800"/>
          </a:xfrm>
          <a:prstGeom prst="roundRect">
            <a:avLst>
              <a:gd name="adj" fmla="val 5000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20"/>
            <a:ext cx="4609947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Local businesses losing out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International developers import their own equipment because local inventory is impossible to find and 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3931920"/>
            <a:ext cx="5387187" cy="1828800"/>
          </a:xfrm>
          <a:prstGeom prst="roundRect">
            <a:avLst>
              <a:gd name="adj" fmla="val 5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1587" y="3931920"/>
            <a:ext cx="5341467" cy="1828800"/>
          </a:xfrm>
          <a:prstGeom prst="roundRect">
            <a:avLst>
              <a:gd name="adj" fmla="val 5000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347" y="4160520"/>
            <a:ext cx="4609947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No business infrastructure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Equipment owners manage their entire operation from memory — no scheduling, no payment tracking, no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1" i="0" spc="400">
                <a:solidFill>
                  <a:srgbClr val="0F6E56"/>
                </a:solidFill>
                <a:latin typeface="Arial"/>
              </a:rPr>
              <a:t>THE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9997135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The problem isn't that people won't use technology.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>
                <a:solidFill>
                  <a:srgbClr val="D85A30"/>
                </a:solidFill>
                <a:latin typeface="Arial"/>
              </a:rPr>
              <a:t>It's that no technology met them where they already 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34840"/>
            <a:ext cx="5318607" cy="1325880"/>
          </a:xfrm>
          <a:prstGeom prst="roundRect">
            <a:avLst>
              <a:gd name="adj" fmla="val 6896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4983479"/>
            <a:ext cx="201168" cy="201168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17720"/>
            <a:ext cx="4129887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0B0AA"/>
                </a:solidFill>
                <a:latin typeface="Arial"/>
              </a:rPr>
              <a:t>Contractors are on WhatsApp and SMS all day. Relay makes those conversations productive.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4434840"/>
            <a:ext cx="5318607" cy="1325880"/>
          </a:xfrm>
          <a:prstGeom prst="roundRect">
            <a:avLst>
              <a:gd name="adj" fmla="val 6896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90207" y="4983479"/>
            <a:ext cx="201168" cy="20116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7407" y="4617720"/>
            <a:ext cx="4129887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0B0AA"/>
                </a:solidFill>
                <a:latin typeface="Arial"/>
              </a:rPr>
              <a:t>Equipment owners need more than bookings. They need a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Arial Black"/>
              </a:rPr>
              <a:t>Relay.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D85A30"/>
                </a:solidFill>
                <a:latin typeface="Arial"/>
              </a:rPr>
              <a:t>One platform. Two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5364327" cy="4023360"/>
          </a:xfrm>
          <a:prstGeom prst="roundRect">
            <a:avLst>
              <a:gd name="adj" fmla="val 3181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300">
                <a:solidFill>
                  <a:srgbClr val="FFFFFF"/>
                </a:solidFill>
                <a:latin typeface="Arial"/>
              </a:rPr>
              <a:t>FOR CONTRACTORS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 Black"/>
              </a:rPr>
              <a:t>Book equipment by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94760"/>
            <a:ext cx="4449927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Message what you need. Get options. Confirm. Pay. All in one SMS or WhatsApp conversation. No app. No calls. No friction.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44499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Arial"/>
              </a:rPr>
              <a:t>→ SMS + WhatsApp 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148840"/>
            <a:ext cx="5364327" cy="4023360"/>
          </a:xfrm>
          <a:prstGeom prst="roundRect">
            <a:avLst>
              <a:gd name="adj" fmla="val 318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5927" y="2606040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300">
                <a:solidFill>
                  <a:srgbClr val="0F6E56"/>
                </a:solidFill>
                <a:latin typeface="Arial"/>
              </a:rPr>
              <a:t>FOR EQUIPMENT OWNERS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5927" y="3017520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 Black"/>
              </a:rPr>
              <a:t>A business backend, finally.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3794760"/>
            <a:ext cx="4449927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B0AA"/>
                </a:solidFill>
                <a:latin typeface="Arial"/>
              </a:rPr>
              <a:t>Booking calendar. Payment tracking. Payout history. Utilisation reports. Invoice generation. Fleet management. All in one web portal.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5394960"/>
            <a:ext cx="44499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0F6E56"/>
                </a:solidFill>
                <a:latin typeface="Arial"/>
              </a:rPr>
              <a:t>→ Web portal + mobile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How a booking happens.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A0B0AA"/>
                </a:solidFill>
                <a:latin typeface="Arial"/>
              </a:rPr>
              <a:t>From first text to confirmed delivery — under 2 minutes.</a:t>
            </a:r>
          </a:p>
        </p:txBody>
      </p:sp>
      <p:sp>
        <p:nvSpPr>
          <p:cNvPr id="7" name="Oval 6"/>
          <p:cNvSpPr/>
          <p:nvPr/>
        </p:nvSpPr>
        <p:spPr>
          <a:xfrm>
            <a:off x="1473669" y="1554480"/>
            <a:ext cx="512064" cy="51206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362123" cy="1325880"/>
          </a:xfrm>
          <a:prstGeom prst="roundRect">
            <a:avLst>
              <a:gd name="adj" fmla="val 6896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904923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Text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Contractor describes what they need in plain English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47923" y="2738628"/>
            <a:ext cx="274320" cy="237744"/>
          </a:xfrm>
          <a:prstGeom prst="rightArrow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4433" y="1554480"/>
            <a:ext cx="512064" cy="51206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9403" y="2194560"/>
            <a:ext cx="2362123" cy="1325880"/>
          </a:xfrm>
          <a:prstGeom prst="roundRect">
            <a:avLst>
              <a:gd name="adj" fmla="val 6896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8003" y="2377440"/>
            <a:ext cx="1904923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Match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Relay's AI checks live availability and returns options with pricing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58687" y="2738628"/>
            <a:ext cx="274320" cy="237744"/>
          </a:xfrm>
          <a:prstGeom prst="rightArrow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95197" y="1554480"/>
            <a:ext cx="512064" cy="51206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0167" y="2194560"/>
            <a:ext cx="2362123" cy="1325880"/>
          </a:xfrm>
          <a:prstGeom prst="roundRect">
            <a:avLst>
              <a:gd name="adj" fmla="val 6896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2377440"/>
            <a:ext cx="1904923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Confirm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Contractor confirms. Payment link sent for 30% deposit.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69451" y="2738628"/>
            <a:ext cx="274320" cy="237744"/>
          </a:xfrm>
          <a:prstGeom prst="rightArrow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05961" y="1554480"/>
            <a:ext cx="512064" cy="51206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0931" y="2194560"/>
            <a:ext cx="2362123" cy="1325880"/>
          </a:xfrm>
          <a:prstGeom prst="roundRect">
            <a:avLst>
              <a:gd name="adj" fmla="val 6896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531" y="2377440"/>
            <a:ext cx="1904923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Done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Equipment owner notified automatically by SMS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94760"/>
            <a:ext cx="11094415" cy="2468880"/>
          </a:xfrm>
          <a:prstGeom prst="roundRect">
            <a:avLst>
              <a:gd name="adj" fmla="val 4444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593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50">
                <a:solidFill>
                  <a:srgbClr val="A0B0AA"/>
                </a:solidFill>
                <a:latin typeface="Arial"/>
              </a:rPr>
              <a:t>SMS  ·  Relay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251960"/>
            <a:ext cx="4708779" cy="316738"/>
          </a:xfrm>
          <a:prstGeom prst="roundRect">
            <a:avLst>
              <a:gd name="adj" fmla="val 346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100" b="0" i="0">
                <a:solidFill>
                  <a:srgbClr val="0F1A17"/>
                </a:solidFill>
                <a:latin typeface="Arial"/>
              </a:rPr>
              <a:t>Need a 20-ton excavator in St Philip, Monday to Wednesday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87975" y="4660138"/>
            <a:ext cx="6035040" cy="487172"/>
          </a:xfrm>
          <a:prstGeom prst="roundRect">
            <a:avLst>
              <a:gd name="adj" fmla="val 22523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Clarke Equipment available. $850/day. 3 days = $2,550. Deposit $765. Delivery address?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238750"/>
            <a:ext cx="2480564" cy="316738"/>
          </a:xfrm>
          <a:prstGeom prst="roundRect">
            <a:avLst>
              <a:gd name="adj" fmla="val 346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100" b="0" i="0">
                <a:solidFill>
                  <a:srgbClr val="0F1A17"/>
                </a:solidFill>
                <a:latin typeface="Arial"/>
              </a:rPr>
              <a:t>Sandy Lane construction site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8411" y="5646928"/>
            <a:ext cx="4324604" cy="316738"/>
          </a:xfrm>
          <a:prstGeom prst="roundRect">
            <a:avLst>
              <a:gd name="adj" fmla="val 34643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Booked. Pay here: relay.co/pay/8821. Owner notified.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What equipment owners 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A0B0AA"/>
                </a:solidFill>
                <a:latin typeface="Arial"/>
              </a:rPr>
              <a:t>A complete business backend — built around their equipment.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1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439058" cy="1920240"/>
          </a:xfrm>
          <a:prstGeom prst="roundRect">
            <a:avLst>
              <a:gd name="adj" fmla="val 476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200">
                <a:solidFill>
                  <a:srgbClr val="0F6E56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79897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Booking Calendar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See every confirmed, pending, and completed booking at a glance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1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9178" y="1783080"/>
            <a:ext cx="3439058" cy="1920240"/>
          </a:xfrm>
          <a:prstGeom prst="roundRect">
            <a:avLst>
              <a:gd name="adj" fmla="val 476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9218" y="21031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200">
                <a:solidFill>
                  <a:srgbClr val="0F6E56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9218" y="2423160"/>
            <a:ext cx="279897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Payment Tracking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Know exactly what's been paid, what's outstanding, and what Relay has transferred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783080"/>
            <a:ext cx="3484778" cy="1920240"/>
          </a:xfrm>
          <a:prstGeom prst="roundRect">
            <a:avLst>
              <a:gd name="adj" fmla="val 4761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3996" y="1783080"/>
            <a:ext cx="3439058" cy="1920240"/>
          </a:xfrm>
          <a:prstGeom prst="roundRect">
            <a:avLst>
              <a:gd name="adj" fmla="val 476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4036" y="21031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200">
                <a:solidFill>
                  <a:srgbClr val="0F6E56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4036" y="2423160"/>
            <a:ext cx="279897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Fleet Management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Add equipment, set availability, update pricing in real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484778" cy="1920240"/>
          </a:xfrm>
          <a:prstGeom prst="roundRect">
            <a:avLst>
              <a:gd name="adj" fmla="val 4761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4023360"/>
            <a:ext cx="3439058" cy="1920240"/>
          </a:xfrm>
          <a:prstGeom prst="roundRect">
            <a:avLst>
              <a:gd name="adj" fmla="val 476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200">
                <a:solidFill>
                  <a:srgbClr val="0F6E56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279897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Invoice Generation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Automatic invoices for every booking, downloadable for accounting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3458" y="4023360"/>
            <a:ext cx="3484778" cy="1920240"/>
          </a:xfrm>
          <a:prstGeom prst="roundRect">
            <a:avLst>
              <a:gd name="adj" fmla="val 4761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99178" y="4023360"/>
            <a:ext cx="3439058" cy="1920240"/>
          </a:xfrm>
          <a:prstGeom prst="roundRect">
            <a:avLst>
              <a:gd name="adj" fmla="val 476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9218" y="43434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200">
                <a:solidFill>
                  <a:srgbClr val="0F6E56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9218" y="4663440"/>
            <a:ext cx="279897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Utilisation Reports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See which machines earn the most and which sit idle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8276" y="4023360"/>
            <a:ext cx="3484778" cy="1920240"/>
          </a:xfrm>
          <a:prstGeom prst="roundRect">
            <a:avLst>
              <a:gd name="adj" fmla="val 4761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3996" y="4023360"/>
            <a:ext cx="3439058" cy="1920240"/>
          </a:xfrm>
          <a:prstGeom prst="roundRect">
            <a:avLst>
              <a:gd name="adj" fmla="val 476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4036" y="43434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200">
                <a:solidFill>
                  <a:srgbClr val="0F6E56"/>
                </a:solidFill>
                <a:latin typeface="Arial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4036" y="4663440"/>
            <a:ext cx="279897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Payout History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Full record of every transfer from Relay to their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The contractor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A0B0AA"/>
                </a:solidFill>
                <a:latin typeface="Arial"/>
              </a:rPr>
              <a:t>SMS and WhatsApp — wherever they already are.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14015"/>
            <a:ext cx="128016" cy="128016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800600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Responds in plain English — no commands or codes needed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65575"/>
            <a:ext cx="128016" cy="128016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83279"/>
            <a:ext cx="4800600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Knows Barbados parishes, terrain, and equipment types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517136"/>
            <a:ext cx="128016" cy="128016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4800600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Remembers the conversation — context survives across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11480"/>
            <a:ext cx="3429000" cy="5806440"/>
          </a:xfrm>
          <a:prstGeom prst="roundRect">
            <a:avLst>
              <a:gd name="adj" fmla="val 12000"/>
            </a:avLst>
          </a:prstGeom>
          <a:solidFill>
            <a:srgbClr val="1A2E28"/>
          </a:solidFill>
          <a:ln w="182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17536" y="539496"/>
            <a:ext cx="3172968" cy="5550407"/>
          </a:xfrm>
          <a:prstGeom prst="roundRect">
            <a:avLst>
              <a:gd name="adj" fmla="val 9798"/>
            </a:avLst>
          </a:prstGeom>
          <a:solidFill>
            <a:srgbClr val="0F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01100" y="630936"/>
            <a:ext cx="1005840" cy="182880"/>
          </a:xfrm>
          <a:prstGeom prst="roundRect">
            <a:avLst>
              <a:gd name="adj" fmla="val 50000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02852" y="923544"/>
            <a:ext cx="402336" cy="402336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2852" y="9235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1362456"/>
            <a:ext cx="317296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6" y="1563624"/>
            <a:ext cx="31729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A0B0AA"/>
                </a:solidFill>
                <a:latin typeface="Arial"/>
              </a:rPr>
              <a:t>Text message · Today 9:41 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0416" y="1837943"/>
            <a:ext cx="2807208" cy="9144"/>
          </a:xfrm>
          <a:prstGeom prst="rect">
            <a:avLst/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94192" y="1984248"/>
            <a:ext cx="2331720" cy="456183"/>
          </a:xfrm>
          <a:prstGeom prst="roundRect">
            <a:avLst>
              <a:gd name="adj" fmla="val 240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000" b="0" i="0">
                <a:solidFill>
                  <a:srgbClr val="0F1A17"/>
                </a:solidFill>
                <a:latin typeface="Arial"/>
              </a:rPr>
              <a:t>I need a mini excavator in Christ Church next week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2128" y="2541016"/>
            <a:ext cx="2331720" cy="301244"/>
          </a:xfrm>
          <a:prstGeom prst="roundRect">
            <a:avLst>
              <a:gd name="adj" fmla="val 36424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What dates and how many days?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9428" y="2942844"/>
            <a:ext cx="1586484" cy="301244"/>
          </a:xfrm>
          <a:prstGeom prst="roundRect">
            <a:avLst>
              <a:gd name="adj" fmla="val 364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000" b="0" i="0">
                <a:solidFill>
                  <a:srgbClr val="0F1A17"/>
                </a:solidFill>
                <a:latin typeface="Arial"/>
              </a:rPr>
              <a:t>Monday to Thursday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8" y="3344672"/>
            <a:ext cx="2331720" cy="921004"/>
          </a:xfrm>
          <a:prstGeom prst="roundRect">
            <a:avLst>
              <a:gd name="adj" fmla="val 11913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Found 2 options:
1. Clarke Mini 3T — $320/day
2. Bradshaw Mini 2T — $280/day
Which works?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37928" y="4366260"/>
            <a:ext cx="887984" cy="301244"/>
          </a:xfrm>
          <a:prstGeom prst="roundRect">
            <a:avLst>
              <a:gd name="adj" fmla="val 364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000" b="0" i="0">
                <a:solidFill>
                  <a:srgbClr val="0F1A17"/>
                </a:solidFill>
                <a:latin typeface="Arial"/>
              </a:rPr>
              <a:t>Option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8" y="4768088"/>
            <a:ext cx="2331720" cy="766064"/>
          </a:xfrm>
          <a:prstGeom prst="roundRect">
            <a:avLst>
              <a:gd name="adj" fmla="val 14323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>
            <a:no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Booked. Deposit $384 due now: relay.co/pay/4421. Owner notified. Calendar invite sent.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55380" y="5925312"/>
            <a:ext cx="1097280" cy="54864"/>
          </a:xfrm>
          <a:prstGeom prst="roundRect">
            <a:avLst>
              <a:gd name="adj" fmla="val 50000"/>
            </a:avLst>
          </a:prstGeom>
          <a:solidFill>
            <a:srgbClr val="A0B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The owner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A0B0AA"/>
                </a:solidFill>
                <a:latin typeface="Arial"/>
              </a:rPr>
              <a:t>Everything they need to run their equipment business.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14015"/>
            <a:ext cx="128016" cy="128016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880360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Real-time booking notifications by SMS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65575"/>
            <a:ext cx="128016" cy="128016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83279"/>
            <a:ext cx="2880360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Automatic invoices on every confirmed booking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517136"/>
            <a:ext cx="128016" cy="128016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2880360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85% payout — Relay takes 10%, owner keeps the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00200"/>
            <a:ext cx="7498079" cy="4023360"/>
          </a:xfrm>
          <a:prstGeom prst="roundRect">
            <a:avLst>
              <a:gd name="adj" fmla="val 4090"/>
            </a:avLst>
          </a:prstGeom>
          <a:solidFill>
            <a:srgbClr val="1A2E28"/>
          </a:solidFill>
          <a:ln w="12700">
            <a:solidFill>
              <a:srgbClr val="2C4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82127" y="1655064"/>
            <a:ext cx="54864" cy="54864"/>
          </a:xfrm>
          <a:prstGeom prst="ellipse">
            <a:avLst/>
          </a:prstGeom>
          <a:solidFill>
            <a:srgbClr val="2C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764792"/>
            <a:ext cx="7205471" cy="3712464"/>
          </a:xfrm>
          <a:prstGeom prst="rect">
            <a:avLst/>
          </a:prstGeom>
          <a:solidFill>
            <a:srgbClr val="0F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pezoid 15"/>
          <p:cNvSpPr/>
          <p:nvPr/>
        </p:nvSpPr>
        <p:spPr>
          <a:xfrm rot="10800000">
            <a:off x="3840480" y="5623560"/>
            <a:ext cx="8138159" cy="182880"/>
          </a:xfrm>
          <a:prstGeom prst="trapezoid">
            <a:avLst/>
          </a:prstGeom>
          <a:solidFill>
            <a:srgbClr val="2C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79" y="5623560"/>
            <a:ext cx="1280160" cy="64008"/>
          </a:xfrm>
          <a:prstGeom prst="roundRect">
            <a:avLst>
              <a:gd name="adj" fmla="val 42857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1764792"/>
            <a:ext cx="7205471" cy="411480"/>
          </a:xfrm>
          <a:prstGeom prst="rect">
            <a:avLst/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1764792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1764792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Welcome back, Michael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07992" y="2359152"/>
            <a:ext cx="1597913" cy="777240"/>
          </a:xfrm>
          <a:prstGeom prst="roundRect">
            <a:avLst>
              <a:gd name="adj" fmla="val 941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2468880"/>
            <a:ext cx="1323593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A0B0AA"/>
                </a:solidFill>
                <a:latin typeface="Arial"/>
              </a:rPr>
              <a:t>Active Bookings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2688336"/>
            <a:ext cx="13235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3065" y="2359152"/>
            <a:ext cx="1597913" cy="777240"/>
          </a:xfrm>
          <a:prstGeom prst="roundRect">
            <a:avLst>
              <a:gd name="adj" fmla="val 941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0225" y="2468880"/>
            <a:ext cx="1323593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A0B0AA"/>
                </a:solidFill>
                <a:latin typeface="Arial"/>
              </a:rPr>
              <a:t>This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0225" y="2688336"/>
            <a:ext cx="13235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  <a:latin typeface="Arial"/>
              </a:rPr>
              <a:t>$8,400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8139" y="2359152"/>
            <a:ext cx="1597913" cy="777240"/>
          </a:xfrm>
          <a:prstGeom prst="roundRect">
            <a:avLst>
              <a:gd name="adj" fmla="val 941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5299" y="2468880"/>
            <a:ext cx="1323593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A0B0AA"/>
                </a:solidFill>
                <a:latin typeface="Arial"/>
              </a:rPr>
              <a:t>Equipment Listed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5299" y="2688336"/>
            <a:ext cx="13235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13213" y="2359152"/>
            <a:ext cx="1597913" cy="777240"/>
          </a:xfrm>
          <a:prstGeom prst="roundRect">
            <a:avLst>
              <a:gd name="adj" fmla="val 941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0374" y="2468880"/>
            <a:ext cx="1323593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A0B0AA"/>
                </a:solidFill>
                <a:latin typeface="Arial"/>
              </a:rPr>
              <a:t>Payout 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0374" y="2688336"/>
            <a:ext cx="132359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D85A30"/>
                </a:solidFill>
                <a:latin typeface="Arial"/>
              </a:rPr>
              <a:t>$2,380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33649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Recent bookings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7992" y="3685032"/>
            <a:ext cx="6803135" cy="274320"/>
          </a:xfrm>
          <a:prstGeom prst="rect">
            <a:avLst/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3685032"/>
            <a:ext cx="137199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50" b="1" i="0" spc="80">
                <a:solidFill>
                  <a:srgbClr val="A0B0AA"/>
                </a:solidFill>
                <a:latin typeface="Arial"/>
              </a:rPr>
              <a:t>EQUIPMENT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17149" y="3685032"/>
            <a:ext cx="104082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50" b="1" i="0" spc="80">
                <a:solidFill>
                  <a:srgbClr val="A0B0AA"/>
                </a:solidFill>
                <a:latin typeface="Arial"/>
              </a:rPr>
              <a:t>BOOKING REF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7975" y="3685032"/>
            <a:ext cx="80427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50" b="1" i="0" spc="80">
                <a:solidFill>
                  <a:srgbClr val="A0B0AA"/>
                </a:solidFill>
                <a:latin typeface="Arial"/>
              </a:rPr>
              <a:t>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2249" y="3685032"/>
            <a:ext cx="156123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50" b="1" i="0" spc="80">
                <a:solidFill>
                  <a:srgbClr val="A0B0AA"/>
                </a:solidFill>
                <a:latin typeface="Arial"/>
              </a:rPr>
              <a:t>CONTRACTOR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3488" y="3685032"/>
            <a:ext cx="99351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50" b="1" i="0" spc="80">
                <a:solidFill>
                  <a:srgbClr val="A0B0AA"/>
                </a:solidFill>
                <a:latin typeface="Arial"/>
              </a:rPr>
              <a:t>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7003" y="3685032"/>
            <a:ext cx="75696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750" b="1" i="0" spc="80">
                <a:solidFill>
                  <a:srgbClr val="A0B0AA"/>
                </a:solidFill>
                <a:latin typeface="Arial"/>
              </a:rPr>
              <a:t>AMOUNT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07992" y="3959352"/>
            <a:ext cx="6803135" cy="420624"/>
          </a:xfrm>
          <a:prstGeom prst="rect">
            <a:avLst/>
          </a:prstGeom>
          <a:solidFill>
            <a:srgbClr val="0F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5152" y="3959352"/>
            <a:ext cx="1371997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20T Excavator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7149" y="3959352"/>
            <a:ext cx="1040825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#REL-4821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7975" y="3959352"/>
            <a:ext cx="80427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Oct 1-3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2249" y="3959352"/>
            <a:ext cx="1561238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Clarke Construction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23488" y="4059936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Confirmed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17003" y="3959352"/>
            <a:ext cx="75696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$2,550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07992" y="4379976"/>
            <a:ext cx="6803135" cy="420624"/>
          </a:xfrm>
          <a:prstGeom prst="rect">
            <a:avLst/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45152" y="4379976"/>
            <a:ext cx="1371997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Dump Truck 10T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17149" y="4379976"/>
            <a:ext cx="1040825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#REL-4819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57975" y="4379976"/>
            <a:ext cx="80427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Sep 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2249" y="4379976"/>
            <a:ext cx="1561238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Bradshaw Ltd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23488" y="4480560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2C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17003" y="4379976"/>
            <a:ext cx="75696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$1,350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07992" y="4800600"/>
            <a:ext cx="6803135" cy="420624"/>
          </a:xfrm>
          <a:prstGeom prst="rect">
            <a:avLst/>
          </a:prstGeom>
          <a:solidFill>
            <a:srgbClr val="0F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45152" y="4800600"/>
            <a:ext cx="1371997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Generator 50kW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17149" y="4800600"/>
            <a:ext cx="1040825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#REL-4817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7975" y="4800600"/>
            <a:ext cx="80427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Oct 5-7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2249" y="4800600"/>
            <a:ext cx="1561238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One Construction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23488" y="4901184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Pending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17003" y="4800600"/>
            <a:ext cx="75696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$1,080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07992" y="3685032"/>
            <a:ext cx="6803135" cy="1536192"/>
          </a:xfrm>
          <a:prstGeom prst="rect">
            <a:avLst/>
          </a:prstGeom>
          <a:noFill/>
          <a:ln w="12700">
            <a:solidFill>
              <a:srgbClr val="1A2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Built in 21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D85A30"/>
                </a:solidFill>
                <a:latin typeface="Arial"/>
              </a:rPr>
              <a:t>Piloting now with One Construction — largest contractor in Barbados.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64327" cy="4389120"/>
          </a:xfrm>
          <a:prstGeom prst="roundRect">
            <a:avLst>
              <a:gd name="adj" fmla="val 2083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54136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What's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0F6E56"/>
                </a:solidFill>
                <a:latin typeface="Arial"/>
              </a:rPr>
              <a:t>✓	</a:t>
            </a:r>
            <a:r>
              <a:rPr sz="1300" b="0" i="0">
                <a:solidFill>
                  <a:srgbClr val="FFFFFF"/>
                </a:solidFill>
                <a:latin typeface="Arial"/>
              </a:rPr>
              <a:t>AI booking agent responding to real SMS messages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0F6E56"/>
                </a:solidFill>
                <a:latin typeface="Arial"/>
              </a:rPr>
              <a:t>✓	</a:t>
            </a:r>
            <a:r>
              <a:rPr sz="1300" b="0" i="0">
                <a:solidFill>
                  <a:srgbClr val="FFFFFF"/>
                </a:solidFill>
                <a:latin typeface="Arial"/>
              </a:rPr>
              <a:t>Live equipment database with availability conflict detection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0F6E56"/>
                </a:solidFill>
                <a:latin typeface="Arial"/>
              </a:rPr>
              <a:t>✓	</a:t>
            </a:r>
            <a:r>
              <a:rPr sz="1300" b="0" i="0">
                <a:solidFill>
                  <a:srgbClr val="FFFFFF"/>
                </a:solidFill>
                <a:latin typeface="Arial"/>
              </a:rPr>
              <a:t>Stripe payment processing — 30% deposit + 70% on completion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0F6E56"/>
                </a:solidFill>
                <a:latin typeface="Arial"/>
              </a:rPr>
              <a:t>✓	</a:t>
            </a:r>
            <a:r>
              <a:rPr sz="1300" b="0" i="0">
                <a:solidFill>
                  <a:srgbClr val="FFFFFF"/>
                </a:solidFill>
                <a:latin typeface="Arial"/>
              </a:rPr>
              <a:t>Automatic equipment owner SMS notifications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0F6E56"/>
                </a:solidFill>
                <a:latin typeface="Arial"/>
              </a:rPr>
              <a:t>✓	</a:t>
            </a:r>
            <a:r>
              <a:rPr sz="1300" b="0" i="0">
                <a:solidFill>
                  <a:srgbClr val="FFFFFF"/>
                </a:solidFill>
                <a:latin typeface="Arial"/>
              </a:rPr>
              <a:t>Persistent conversation memory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0F6E56"/>
                </a:solidFill>
                <a:latin typeface="Arial"/>
              </a:rPr>
              <a:t>✓	</a:t>
            </a:r>
            <a:r>
              <a:rPr sz="1300" b="0" i="0">
                <a:solidFill>
                  <a:srgbClr val="FFFFFF"/>
                </a:solidFill>
                <a:latin typeface="Arial"/>
              </a:rPr>
              <a:t>Deployed 24/7 — Railway hosting, no downtime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0F6E56"/>
                </a:solidFill>
                <a:latin typeface="Arial"/>
              </a:rPr>
              <a:t>✓	</a:t>
            </a:r>
            <a:r>
              <a:rPr sz="1300" b="0" i="0">
                <a:solidFill>
                  <a:srgbClr val="FFFFFF"/>
                </a:solidFill>
                <a:latin typeface="Arial"/>
              </a:rPr>
              <a:t>buildrelay.co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828800"/>
            <a:ext cx="5364327" cy="4389120"/>
          </a:xfrm>
          <a:prstGeom prst="roundRect">
            <a:avLst>
              <a:gd name="adj" fmla="val 2083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0207" y="2148840"/>
            <a:ext cx="454136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What's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7" y="269748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D85A30"/>
                </a:solidFill>
                <a:latin typeface="Arial"/>
              </a:rPr>
              <a:t>→	</a:t>
            </a:r>
            <a:r>
              <a:rPr sz="1300" b="0" i="0">
                <a:solidFill>
                  <a:srgbClr val="A0B0AA"/>
                </a:solidFill>
                <a:latin typeface="Arial"/>
              </a:rPr>
              <a:t>Owner web portal — in development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D85A30"/>
                </a:solidFill>
                <a:latin typeface="Arial"/>
              </a:rPr>
              <a:t>→	</a:t>
            </a:r>
            <a:r>
              <a:rPr sz="1300" b="0" i="0">
                <a:solidFill>
                  <a:srgbClr val="A0B0AA"/>
                </a:solidFill>
                <a:latin typeface="Arial"/>
              </a:rPr>
              <a:t>WhatsApp Business API — pending approval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D85A30"/>
                </a:solidFill>
                <a:latin typeface="Arial"/>
              </a:rPr>
              <a:t>→	</a:t>
            </a:r>
            <a:r>
              <a:rPr sz="1300" b="0" i="0">
                <a:solidFill>
                  <a:srgbClr val="A0B0AA"/>
                </a:solidFill>
                <a:latin typeface="Arial"/>
              </a:rPr>
              <a:t>WiPay integration — local Caribbean payments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D85A30"/>
                </a:solidFill>
                <a:latin typeface="Arial"/>
              </a:rPr>
              <a:t>→	</a:t>
            </a:r>
            <a:r>
              <a:rPr sz="1300" b="0" i="0">
                <a:solidFill>
                  <a:srgbClr val="A0B0AA"/>
                </a:solidFill>
                <a:latin typeface="Arial"/>
              </a:rPr>
              <a:t>Barbados public launch — Q4 2026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D85A30"/>
                </a:solidFill>
                <a:latin typeface="Arial"/>
              </a:rPr>
              <a:t>→	</a:t>
            </a:r>
            <a:r>
              <a:rPr sz="1300" b="0" i="0">
                <a:solidFill>
                  <a:srgbClr val="A0B0AA"/>
                </a:solidFill>
                <a:latin typeface="Arial"/>
              </a:rPr>
              <a:t>Guyana expansion — in motion</a:t>
            </a:r>
          </a:p>
          <a:p>
            <a:pPr algn="l" marL="320040" indent="-320040">
              <a:spcAft>
                <a:spcPts val="1400"/>
              </a:spcAft>
            </a:pPr>
            <a:r>
              <a:rPr sz="1400" b="1" i="0">
                <a:solidFill>
                  <a:srgbClr val="D85A30"/>
                </a:solidFill>
                <a:latin typeface="Arial"/>
              </a:rPr>
              <a:t>→	</a:t>
            </a:r>
            <a:r>
              <a:rPr sz="1300" b="0" i="0">
                <a:solidFill>
                  <a:srgbClr val="A0B0AA"/>
                </a:solidFill>
                <a:latin typeface="Arial"/>
              </a:rPr>
              <a:t>Trades scheduling — Phase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Barbados is the proof of concept.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A0B0AA"/>
                </a:solidFill>
                <a:latin typeface="Arial"/>
              </a:rPr>
              <a:t>The Caribbean is the opportunity.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567863" cy="3063240"/>
          </a:xfrm>
          <a:prstGeom prst="roundRect">
            <a:avLst>
              <a:gd name="adj" fmla="val 356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2567863" cy="3017520"/>
          </a:xfrm>
          <a:prstGeom prst="roundRect">
            <a:avLst>
              <a:gd name="adj" fmla="val 3560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9277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🇧🇧  </a:t>
            </a:r>
            <a:r>
              <a:rPr sz="1600" b="1" i="0">
                <a:solidFill>
                  <a:srgbClr val="0F6E56"/>
                </a:solidFill>
                <a:latin typeface="Arial"/>
              </a:rPr>
              <a:t>Barbados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927783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$1.5-2B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19277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A0B0AA"/>
                </a:solidFill>
                <a:latin typeface="Arial"/>
              </a:rPr>
              <a:t>Construction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59"/>
            <a:ext cx="19277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150">
                <a:solidFill>
                  <a:srgbClr val="D85A30"/>
                </a:solidFill>
                <a:latin typeface="Arial"/>
              </a:rPr>
              <a:t>PILOT UNDERWAY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1828800"/>
            <a:ext cx="2567863" cy="3063240"/>
          </a:xfrm>
          <a:prstGeom prst="roundRect">
            <a:avLst>
              <a:gd name="adj" fmla="val 356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0823" y="1874519"/>
            <a:ext cx="2567863" cy="3017520"/>
          </a:xfrm>
          <a:prstGeom prst="roundRect">
            <a:avLst>
              <a:gd name="adj" fmla="val 3560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863" y="2194560"/>
            <a:ext cx="19277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🇬🇾  </a:t>
            </a:r>
            <a:r>
              <a:rPr sz="1600" b="1" i="0">
                <a:solidFill>
                  <a:srgbClr val="0F6E56"/>
                </a:solidFill>
                <a:latin typeface="Arial"/>
              </a:rPr>
              <a:t>Guyana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2697480"/>
            <a:ext cx="1927783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$4B+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863" y="3429000"/>
            <a:ext cx="19277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A0B0AA"/>
                </a:solidFill>
                <a:latin typeface="Arial"/>
              </a:rPr>
              <a:t>Oil boom construction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863" y="4251959"/>
            <a:ext cx="19277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150">
                <a:solidFill>
                  <a:srgbClr val="D85A30"/>
                </a:solidFill>
                <a:latin typeface="Arial"/>
              </a:rPr>
              <a:t>EXPANSION IN MOTION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828800"/>
            <a:ext cx="2567863" cy="3063240"/>
          </a:xfrm>
          <a:prstGeom prst="roundRect">
            <a:avLst>
              <a:gd name="adj" fmla="val 356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3007" y="1874519"/>
            <a:ext cx="2567863" cy="3017520"/>
          </a:xfrm>
          <a:prstGeom prst="roundRect">
            <a:avLst>
              <a:gd name="adj" fmla="val 3560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2194560"/>
            <a:ext cx="19277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🇹🇹  </a:t>
            </a:r>
            <a:r>
              <a:rPr sz="1600" b="1" i="0">
                <a:solidFill>
                  <a:srgbClr val="0F6E56"/>
                </a:solidFill>
                <a:latin typeface="Arial"/>
              </a:rPr>
              <a:t>Trinidad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697480"/>
            <a:ext cx="1927783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$2B+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3429000"/>
            <a:ext cx="19277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A0B0AA"/>
                </a:solidFill>
                <a:latin typeface="Arial"/>
              </a:rPr>
              <a:t>Regional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4251959"/>
            <a:ext cx="19277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150">
                <a:solidFill>
                  <a:srgbClr val="A0B0AA"/>
                </a:solidFill>
                <a:latin typeface="Arial"/>
              </a:rPr>
              <a:t>YEAR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5191" y="1828800"/>
            <a:ext cx="2567863" cy="3063240"/>
          </a:xfrm>
          <a:prstGeom prst="roundRect">
            <a:avLst>
              <a:gd name="adj" fmla="val 356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75191" y="1874519"/>
            <a:ext cx="2567863" cy="3017520"/>
          </a:xfrm>
          <a:prstGeom prst="roundRect">
            <a:avLst>
              <a:gd name="adj" fmla="val 3560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5231" y="2194560"/>
            <a:ext cx="19277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🇯🇲  </a:t>
            </a:r>
            <a:r>
              <a:rPr sz="1600" b="1" i="0">
                <a:solidFill>
                  <a:srgbClr val="0F6E56"/>
                </a:solidFill>
                <a:latin typeface="Arial"/>
              </a:rPr>
              <a:t>Jamaica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5231" y="2697480"/>
            <a:ext cx="1927783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$3B+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5231" y="3429000"/>
            <a:ext cx="19277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A0B0AA"/>
                </a:solidFill>
                <a:latin typeface="Arial"/>
              </a:rPr>
              <a:t>Tourism +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5231" y="4251959"/>
            <a:ext cx="19277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150">
                <a:solidFill>
                  <a:srgbClr val="A0B0AA"/>
                </a:solidFill>
                <a:latin typeface="Arial"/>
              </a:rPr>
              <a:t>YEAR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Total Caribbean construction market: $8B+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A0B0AA"/>
                </a:solidFill>
                <a:latin typeface="Arial"/>
              </a:rPr>
              <a:t>Initial addressable marketplace in Barbados: $20-30M annually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Simple. Scalable. High margin.</a:t>
            </a:r>
          </a:p>
        </p:txBody>
      </p:sp>
      <p:sp>
        <p:nvSpPr>
          <p:cNvPr id="6" name="Block Arc 5"/>
          <p:cNvSpPr/>
          <p:nvPr/>
        </p:nvSpPr>
        <p:spPr>
          <a:xfrm>
            <a:off x="640080" y="1600200"/>
            <a:ext cx="2926080" cy="2926080"/>
          </a:xfrm>
          <a:prstGeom prst="blockArc">
            <a:avLst>
              <a:gd name="adj1" fmla="val 18450000"/>
              <a:gd name="adj2" fmla="val 16110000"/>
              <a:gd name="adj3" fmla="val 20000"/>
            </a:avLst>
          </a:prstGeom>
          <a:solidFill>
            <a:srgbClr val="1A2E28"/>
          </a:solidFill>
          <a:ln w="12700">
            <a:solidFill>
              <a:srgbClr val="2C4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640080" y="1600200"/>
            <a:ext cx="2926080" cy="2926080"/>
          </a:xfrm>
          <a:prstGeom prst="blockArc">
            <a:avLst>
              <a:gd name="adj1" fmla="val 16260000"/>
              <a:gd name="adj2" fmla="val 18300000"/>
              <a:gd name="adj3" fmla="val 2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92608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/>
            <a:r>
              <a:rPr sz="3000" b="1" i="0">
                <a:solidFill>
                  <a:srgbClr val="0F6E56"/>
                </a:solidFill>
                <a:latin typeface="Arial"/>
              </a:rP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7296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A0B0AA"/>
                </a:solidFill>
                <a:latin typeface="Arial"/>
              </a:rPr>
              <a:t>per booking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7020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4" y="265176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Relay — 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25069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A2E28"/>
          </a:solidFill>
          <a:ln w="12700">
            <a:solidFill>
              <a:srgbClr val="2C4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9664" y="320040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Equipment Owner — 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8348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1">
                <a:solidFill>
                  <a:srgbClr val="A0B0AA"/>
                </a:solidFill>
                <a:latin typeface="Arial"/>
              </a:rPr>
              <a:t>No subscription fees. No listing fees. Pure transaction revenue.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417320"/>
            <a:ext cx="4922215" cy="1188720"/>
          </a:xfrm>
          <a:prstGeom prst="roundRect">
            <a:avLst>
              <a:gd name="adj" fmla="val 7692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16184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200">
                <a:solidFill>
                  <a:srgbClr val="A0B0AA"/>
                </a:solidFill>
                <a:latin typeface="Arial"/>
              </a:rPr>
              <a:t>YEAR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28800"/>
            <a:ext cx="265176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0F6E56"/>
                </a:solidFill>
                <a:latin typeface="Arial"/>
              </a:rPr>
              <a:t>$150,000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1600200"/>
            <a:ext cx="176753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Platform revenue — Barbados pilot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834640"/>
            <a:ext cx="4922215" cy="1188720"/>
          </a:xfrm>
          <a:prstGeom prst="roundRect">
            <a:avLst>
              <a:gd name="adj" fmla="val 7692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0358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200">
                <a:solidFill>
                  <a:srgbClr val="A0B0AA"/>
                </a:solidFill>
                <a:latin typeface="Arial"/>
              </a:rPr>
              <a:t>YEAR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46120"/>
            <a:ext cx="265176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0F6E56"/>
                </a:solidFill>
                <a:latin typeface="Arial"/>
              </a:rPr>
              <a:t>$500,000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017520"/>
            <a:ext cx="176753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Two markets — Barbados + Guyana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4251960"/>
            <a:ext cx="4922215" cy="1188720"/>
          </a:xfrm>
          <a:prstGeom prst="roundRect">
            <a:avLst>
              <a:gd name="adj" fmla="val 7692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45312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200">
                <a:solidFill>
                  <a:srgbClr val="A0B0AA"/>
                </a:solidFill>
                <a:latin typeface="Arial"/>
              </a:rPr>
              <a:t>YEAR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663440"/>
            <a:ext cx="2651760" cy="594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D85A30"/>
                </a:solidFill>
                <a:latin typeface="Arial"/>
              </a:rPr>
              <a:t>$1M+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434840"/>
            <a:ext cx="176753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Trades vertical live + regional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623560"/>
            <a:ext cx="4922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A0B0AA"/>
                </a:solidFill>
                <a:latin typeface="Arial"/>
              </a:rPr>
              <a:t>Based on $20-30M addressable marketplace at 10% fee. Ultra conservative.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Built by people inside the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64327" cy="3520440"/>
          </a:xfrm>
          <a:prstGeom prst="roundRect">
            <a:avLst>
              <a:gd name="adj" fmla="val 2597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64327" cy="3474720"/>
          </a:xfrm>
          <a:prstGeom prst="roundRect">
            <a:avLst>
              <a:gd name="adj" fmla="val 263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777240" cy="777240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 Black"/>
              </a:rPr>
              <a:t>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4499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 Black"/>
              </a:rPr>
              <a:t>Chris Corless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Arial"/>
              </a:rPr>
              <a:t>Co-Founder — Product &amp;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4449927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Venture Architect with 20+ years building platforms across music, media, wellness, and real estate. Built Relay's entire technical stack in 21 days. Based between Toronto and Barbados.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463040"/>
            <a:ext cx="5364327" cy="3520440"/>
          </a:xfrm>
          <a:prstGeom prst="roundRect">
            <a:avLst>
              <a:gd name="adj" fmla="val 2597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8727" y="1508760"/>
            <a:ext cx="5364327" cy="3474720"/>
          </a:xfrm>
          <a:prstGeom prst="roundRect">
            <a:avLst>
              <a:gd name="adj" fmla="val 2631"/>
            </a:avLst>
          </a:prstGeom>
          <a:solidFill>
            <a:srgbClr val="1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1920240"/>
            <a:ext cx="777240" cy="777240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 Black"/>
              </a:rPr>
              <a:t>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2926080"/>
            <a:ext cx="44499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 Black"/>
              </a:rPr>
              <a:t>James Edghill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401568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Arial"/>
              </a:rPr>
              <a:t>Co-Founder — Market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840480"/>
            <a:ext cx="4449927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0B0AA"/>
                </a:solidFill>
                <a:latin typeface="Arial"/>
              </a:rPr>
              <a:t>Operates One Construction — one of the largest construction companies in Barbados. Deep equipment owner network and firsthand knowledge of every coordination problem Relay solves. First pilot customer.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600" b="1" i="1">
                <a:solidFill>
                  <a:srgbClr val="D85A30"/>
                </a:solidFill>
                <a:latin typeface="Arial"/>
              </a:rPr>
              <a:t>We didn't discover this problem. We're inside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A0B0AA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11887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  <a:latin typeface="Arial Black"/>
              </a:rPr>
              <a:t>Relay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0" i="0">
                <a:solidFill>
                  <a:srgbClr val="A0B0AA"/>
                </a:solidFill>
                <a:latin typeface="Arial"/>
              </a:rPr>
              <a:t>The operating system for Caribbean construction.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8247" y="3415284"/>
            <a:ext cx="7315200" cy="2743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0F6E56"/>
                </a:solidFill>
                <a:latin typeface="Arial"/>
              </a:rPr>
              <a:t>buildrelay.co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hello@buildrelay.co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